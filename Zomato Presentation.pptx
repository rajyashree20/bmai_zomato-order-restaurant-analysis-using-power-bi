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yashree Pooranachandran" userId="08fbcd16ef1c911f" providerId="LiveId" clId="{B45B48CC-70A6-4827-A6CC-E20BE1775DEB}"/>
    <pc:docChg chg="undo custSel addSld modSld sldOrd">
      <pc:chgData name="Rajyashree Pooranachandran" userId="08fbcd16ef1c911f" providerId="LiveId" clId="{B45B48CC-70A6-4827-A6CC-E20BE1775DEB}" dt="2026-07-23T05:28:03.911" v="1381" actId="20577"/>
      <pc:docMkLst>
        <pc:docMk/>
      </pc:docMkLst>
      <pc:sldChg chg="modSp mod">
        <pc:chgData name="Rajyashree Pooranachandran" userId="08fbcd16ef1c911f" providerId="LiveId" clId="{B45B48CC-70A6-4827-A6CC-E20BE1775DEB}" dt="2026-07-17T09:21:52.007" v="1282" actId="113"/>
        <pc:sldMkLst>
          <pc:docMk/>
          <pc:sldMk cId="4210539173" sldId="256"/>
        </pc:sldMkLst>
        <pc:spChg chg="mod">
          <ac:chgData name="Rajyashree Pooranachandran" userId="08fbcd16ef1c911f" providerId="LiveId" clId="{B45B48CC-70A6-4827-A6CC-E20BE1775DEB}" dt="2026-07-17T09:21:52.007" v="1282" actId="113"/>
          <ac:spMkLst>
            <pc:docMk/>
            <pc:sldMk cId="4210539173" sldId="256"/>
            <ac:spMk id="2" creationId="{4DE63E97-B2BB-3E05-7523-2FD5A73FD096}"/>
          </ac:spMkLst>
        </pc:spChg>
        <pc:spChg chg="mod">
          <ac:chgData name="Rajyashree Pooranachandran" userId="08fbcd16ef1c911f" providerId="LiveId" clId="{B45B48CC-70A6-4827-A6CC-E20BE1775DEB}" dt="2026-07-15T05:03:52.632" v="26" actId="121"/>
          <ac:spMkLst>
            <pc:docMk/>
            <pc:sldMk cId="4210539173" sldId="256"/>
            <ac:spMk id="3" creationId="{4963CDA6-E2D0-9DF0-369C-8CE78261FA48}"/>
          </ac:spMkLst>
        </pc:spChg>
      </pc:sldChg>
      <pc:sldChg chg="modSp new mod">
        <pc:chgData name="Rajyashree Pooranachandran" userId="08fbcd16ef1c911f" providerId="LiveId" clId="{B45B48CC-70A6-4827-A6CC-E20BE1775DEB}" dt="2026-07-23T05:28:03.911" v="1381" actId="20577"/>
        <pc:sldMkLst>
          <pc:docMk/>
          <pc:sldMk cId="1552331282" sldId="257"/>
        </pc:sldMkLst>
        <pc:spChg chg="mod">
          <ac:chgData name="Rajyashree Pooranachandran" userId="08fbcd16ef1c911f" providerId="LiveId" clId="{B45B48CC-70A6-4827-A6CC-E20BE1775DEB}" dt="2026-07-17T06:55:59.780" v="109" actId="20577"/>
          <ac:spMkLst>
            <pc:docMk/>
            <pc:sldMk cId="1552331282" sldId="257"/>
            <ac:spMk id="2" creationId="{DD05B9FD-EA3E-190A-E21E-12951D6D89ED}"/>
          </ac:spMkLst>
        </pc:spChg>
        <pc:spChg chg="mod">
          <ac:chgData name="Rajyashree Pooranachandran" userId="08fbcd16ef1c911f" providerId="LiveId" clId="{B45B48CC-70A6-4827-A6CC-E20BE1775DEB}" dt="2026-07-23T05:28:03.911" v="1381" actId="20577"/>
          <ac:spMkLst>
            <pc:docMk/>
            <pc:sldMk cId="1552331282" sldId="257"/>
            <ac:spMk id="3" creationId="{2FA6C23E-1BF6-4AB2-C6CD-8FAE6156449B}"/>
          </ac:spMkLst>
        </pc:spChg>
      </pc:sldChg>
      <pc:sldChg chg="modSp new mod">
        <pc:chgData name="Rajyashree Pooranachandran" userId="08fbcd16ef1c911f" providerId="LiveId" clId="{B45B48CC-70A6-4827-A6CC-E20BE1775DEB}" dt="2026-07-17T09:23:55.403" v="1287" actId="20577"/>
        <pc:sldMkLst>
          <pc:docMk/>
          <pc:sldMk cId="1294959825" sldId="258"/>
        </pc:sldMkLst>
        <pc:spChg chg="mod">
          <ac:chgData name="Rajyashree Pooranachandran" userId="08fbcd16ef1c911f" providerId="LiveId" clId="{B45B48CC-70A6-4827-A6CC-E20BE1775DEB}" dt="2026-07-17T06:56:07" v="118" actId="20577"/>
          <ac:spMkLst>
            <pc:docMk/>
            <pc:sldMk cId="1294959825" sldId="258"/>
            <ac:spMk id="2" creationId="{4D4715E4-6313-57E5-4DD2-CF4DAC7C4726}"/>
          </ac:spMkLst>
        </pc:spChg>
        <pc:spChg chg="mod">
          <ac:chgData name="Rajyashree Pooranachandran" userId="08fbcd16ef1c911f" providerId="LiveId" clId="{B45B48CC-70A6-4827-A6CC-E20BE1775DEB}" dt="2026-07-17T09:23:55.403" v="1287" actId="20577"/>
          <ac:spMkLst>
            <pc:docMk/>
            <pc:sldMk cId="1294959825" sldId="258"/>
            <ac:spMk id="3" creationId="{E61AFF60-C316-C616-0F85-20D3DF5B7224}"/>
          </ac:spMkLst>
        </pc:spChg>
      </pc:sldChg>
      <pc:sldChg chg="modSp new mod">
        <pc:chgData name="Rajyashree Pooranachandran" userId="08fbcd16ef1c911f" providerId="LiveId" clId="{B45B48CC-70A6-4827-A6CC-E20BE1775DEB}" dt="2026-07-17T09:14:53.224" v="1232" actId="113"/>
        <pc:sldMkLst>
          <pc:docMk/>
          <pc:sldMk cId="572992819" sldId="259"/>
        </pc:sldMkLst>
        <pc:spChg chg="mod">
          <ac:chgData name="Rajyashree Pooranachandran" userId="08fbcd16ef1c911f" providerId="LiveId" clId="{B45B48CC-70A6-4827-A6CC-E20BE1775DEB}" dt="2026-07-17T07:13:49.158" v="454" actId="255"/>
          <ac:spMkLst>
            <pc:docMk/>
            <pc:sldMk cId="572992819" sldId="259"/>
            <ac:spMk id="2" creationId="{DFF0E93F-3277-4702-4DA9-BBA1B36B7665}"/>
          </ac:spMkLst>
        </pc:spChg>
        <pc:spChg chg="mod">
          <ac:chgData name="Rajyashree Pooranachandran" userId="08fbcd16ef1c911f" providerId="LiveId" clId="{B45B48CC-70A6-4827-A6CC-E20BE1775DEB}" dt="2026-07-17T09:14:53.224" v="1232" actId="113"/>
          <ac:spMkLst>
            <pc:docMk/>
            <pc:sldMk cId="572992819" sldId="259"/>
            <ac:spMk id="3" creationId="{B7B193F3-857E-9ED3-5AD0-DCEFD66F9150}"/>
          </ac:spMkLst>
        </pc:spChg>
      </pc:sldChg>
      <pc:sldChg chg="modSp new mod ord">
        <pc:chgData name="Rajyashree Pooranachandran" userId="08fbcd16ef1c911f" providerId="LiveId" clId="{B45B48CC-70A6-4827-A6CC-E20BE1775DEB}" dt="2026-07-17T09:25:17.351" v="1345"/>
        <pc:sldMkLst>
          <pc:docMk/>
          <pc:sldMk cId="3161915981" sldId="260"/>
        </pc:sldMkLst>
        <pc:spChg chg="mod">
          <ac:chgData name="Rajyashree Pooranachandran" userId="08fbcd16ef1c911f" providerId="LiveId" clId="{B45B48CC-70A6-4827-A6CC-E20BE1775DEB}" dt="2026-07-17T07:09:54.515" v="445"/>
          <ac:spMkLst>
            <pc:docMk/>
            <pc:sldMk cId="3161915981" sldId="260"/>
            <ac:spMk id="2" creationId="{45DA0DB4-8FC1-4133-0EF5-87886934F662}"/>
          </ac:spMkLst>
        </pc:spChg>
        <pc:spChg chg="mod">
          <ac:chgData name="Rajyashree Pooranachandran" userId="08fbcd16ef1c911f" providerId="LiveId" clId="{B45B48CC-70A6-4827-A6CC-E20BE1775DEB}" dt="2026-07-17T09:25:17.351" v="1345"/>
          <ac:spMkLst>
            <pc:docMk/>
            <pc:sldMk cId="3161915981" sldId="260"/>
            <ac:spMk id="3" creationId="{AE208FF0-1D55-874C-5E4A-D0243CABF15F}"/>
          </ac:spMkLst>
        </pc:spChg>
        <pc:spChg chg="mod">
          <ac:chgData name="Rajyashree Pooranachandran" userId="08fbcd16ef1c911f" providerId="LiveId" clId="{B45B48CC-70A6-4827-A6CC-E20BE1775DEB}" dt="2026-07-17T09:02:56.101" v="1062" actId="113"/>
          <ac:spMkLst>
            <pc:docMk/>
            <pc:sldMk cId="3161915981" sldId="260"/>
            <ac:spMk id="4" creationId="{A8A0E9D1-0B68-E30F-FF67-95E80A5421C9}"/>
          </ac:spMkLst>
        </pc:spChg>
      </pc:sldChg>
      <pc:sldChg chg="modSp new mod">
        <pc:chgData name="Rajyashree Pooranachandran" userId="08fbcd16ef1c911f" providerId="LiveId" clId="{B45B48CC-70A6-4827-A6CC-E20BE1775DEB}" dt="2026-07-17T09:20:32.285" v="1257" actId="255"/>
        <pc:sldMkLst>
          <pc:docMk/>
          <pc:sldMk cId="1685388893" sldId="261"/>
        </pc:sldMkLst>
        <pc:spChg chg="mod">
          <ac:chgData name="Rajyashree Pooranachandran" userId="08fbcd16ef1c911f" providerId="LiveId" clId="{B45B48CC-70A6-4827-A6CC-E20BE1775DEB}" dt="2026-07-17T09:19:22.792" v="1241" actId="20577"/>
          <ac:spMkLst>
            <pc:docMk/>
            <pc:sldMk cId="1685388893" sldId="261"/>
            <ac:spMk id="2" creationId="{BB530D1D-AA2F-B069-A343-FC5038F0A093}"/>
          </ac:spMkLst>
        </pc:spChg>
        <pc:spChg chg="mod">
          <ac:chgData name="Rajyashree Pooranachandran" userId="08fbcd16ef1c911f" providerId="LiveId" clId="{B45B48CC-70A6-4827-A6CC-E20BE1775DEB}" dt="2026-07-17T09:20:32.285" v="1257" actId="255"/>
          <ac:spMkLst>
            <pc:docMk/>
            <pc:sldMk cId="1685388893" sldId="261"/>
            <ac:spMk id="3" creationId="{B08A2A7F-0807-13A2-9913-E315BE4C0840}"/>
          </ac:spMkLst>
        </pc:spChg>
      </pc:sldChg>
      <pc:sldChg chg="delSp modSp new mod">
        <pc:chgData name="Rajyashree Pooranachandran" userId="08fbcd16ef1c911f" providerId="LiveId" clId="{B45B48CC-70A6-4827-A6CC-E20BE1775DEB}" dt="2026-07-17T09:21:33.874" v="1281" actId="255"/>
        <pc:sldMkLst>
          <pc:docMk/>
          <pc:sldMk cId="1835708035" sldId="262"/>
        </pc:sldMkLst>
        <pc:spChg chg="mod">
          <ac:chgData name="Rajyashree Pooranachandran" userId="08fbcd16ef1c911f" providerId="LiveId" clId="{B45B48CC-70A6-4827-A6CC-E20BE1775DEB}" dt="2026-07-17T09:21:33.874" v="1281" actId="255"/>
          <ac:spMkLst>
            <pc:docMk/>
            <pc:sldMk cId="1835708035" sldId="262"/>
            <ac:spMk id="3" creationId="{6F91B891-BC8F-8825-3295-5E50A75B670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B4402-2A31-BFFB-7BFF-B946A93DAB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05FD97-EFFD-684E-407E-67F9E113F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44178-F919-9FD4-DE38-2A749881C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63CE7-7A60-4F8C-9E8E-51D44B10892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DA646-094A-9AAD-E807-BE99DDC89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35E8C-18F6-D073-ABA3-6C83061E9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CFE8-07C5-4F0C-ACBA-13B4F8B9A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871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57F5D-4885-9016-4A72-62B5983B4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209B8-9CAB-0375-9AFA-CB8505CBB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0FE21-F6FB-691E-D064-CE866A531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63CE7-7A60-4F8C-9E8E-51D44B10892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E3501-D88E-98B5-2427-B0A3CA6B4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BB0C6-C4D9-4B23-B253-8A521D29B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CFE8-07C5-4F0C-ACBA-13B4F8B9A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690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42124-EE08-4A7F-3AF2-44A35F59E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4534E-B1CB-C5B5-9F0A-AB2549BA7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E93AF-45A0-2B9A-6EB5-438A903D1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63CE7-7A60-4F8C-9E8E-51D44B10892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4CAEC-E540-B00B-5E1E-63553B977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A40A4-0022-1003-5A54-97F59E530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CFE8-07C5-4F0C-ACBA-13B4F8B9A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742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5F9E1-D65E-BDAB-1D4F-DAE038F95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BAD8E-9C3B-5D71-E603-49E1BD9772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FB880-B462-5914-1567-95255EE21C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610E66-3CF9-74D2-9247-6272AFBD6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63CE7-7A60-4F8C-9E8E-51D44B10892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D6623-858B-410C-F005-404FBD32F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D22125-764A-1DF0-34EB-FBCA2C7DE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CFE8-07C5-4F0C-ACBA-13B4F8B9A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243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A911F-19E6-59CC-2FC5-A1D77C2B0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ADBA6-3DD4-9D3D-00D5-6BC99BBBC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B1C110-6F31-DC14-FE51-7B2A52744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85586C-B71D-6EDF-843C-146CC8015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58BA0E-A972-AC2F-9DCC-ABD42540B4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4AC4E-9D10-C68B-71EA-6A6E5122C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63CE7-7A60-4F8C-9E8E-51D44B10892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A1FD62-10A1-CD3E-1CF2-216953E26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71180F-99A2-78B5-C848-8F48F1346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CFE8-07C5-4F0C-ACBA-13B4F8B9A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771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202B1-C47F-D336-F3CC-DCE3A7E93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E06AB2-D964-2BFB-5C97-7786D82DB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63CE7-7A60-4F8C-9E8E-51D44B10892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8AE2AB-F94D-FA0F-BD78-97E047103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A2073D-DBB2-5388-BB83-A4154735E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CFE8-07C5-4F0C-ACBA-13B4F8B9A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658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FF9191-9CF7-75E9-D8AE-0CEFA0632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63CE7-7A60-4F8C-9E8E-51D44B10892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128FEE-CF3F-C56B-F954-40D7641DC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513BA-1052-9BCB-1A23-404E3B9EE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CFE8-07C5-4F0C-ACBA-13B4F8B9A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781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064B2-3C92-F2F8-E7E9-0C3D15BAB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D479D-AC9F-BCA3-B32C-F5F45FB21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F8BCFC-9A1A-5AEB-0B0B-DCD8E8E07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994B6-1147-7C39-36BE-A1A1D0AF8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63CE7-7A60-4F8C-9E8E-51D44B10892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D1619F-A2C5-504A-ABF0-4EFE01733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BB2F73-45BE-1386-8B0B-F1886985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CFE8-07C5-4F0C-ACBA-13B4F8B9A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339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45FAE-79BA-A09E-F075-650181F3A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E9024C-C36F-866D-6266-9BD82F45E1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3B720-FDC5-B7AC-F431-2E73FAE8A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39E0B4-11F6-8449-F43E-69D75BE14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63CE7-7A60-4F8C-9E8E-51D44B10892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3E0398-4001-D920-8F99-8AE3F890C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4DDAF-4902-1372-5EAD-FC9009B48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CFE8-07C5-4F0C-ACBA-13B4F8B9A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799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90CFF-381A-9AE7-01DC-7C08685A3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973710-FF72-3B94-3D26-13540CF88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0D08D-EDDA-D0EB-7ED0-BC26EE0AC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63CE7-7A60-4F8C-9E8E-51D44B10892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1C7F3-C77F-1E12-0E55-5C7725A1D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27025-70AF-239E-759C-E067011FB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CFE8-07C5-4F0C-ACBA-13B4F8B9A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36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968B70-E34A-329E-2208-E268B039E5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406459-5B59-DEDB-4FE4-37E2EB8C11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72E28-ED67-4AF7-3D74-04CABF496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63CE7-7A60-4F8C-9E8E-51D44B10892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C2D0C-ABDF-6E0E-3ADE-9D305C30C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A4BF2-0CD6-4018-87B3-5F6E54C99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CFE8-07C5-4F0C-ACBA-13B4F8B9A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038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085F4D-BA1F-8091-1588-BD5EE1308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2C3427-6684-8331-2495-03B0BB17A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E2F06-6829-8876-F0AC-F086845C61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D63CE7-7A60-4F8C-9E8E-51D44B10892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357DB-FA82-3B4C-DC13-0590E08928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8CD99-03A7-8C8F-9E7C-B94FE445E7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E6CFE8-07C5-4F0C-ACBA-13B4F8B9A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73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63E97-B2BB-3E05-7523-2FD5A73FD0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Zomato Order &amp; Restaurant Analysis Using Power BI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63CDA6-E2D0-9DF0-369C-8CE78261FA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/>
              <a:t>By </a:t>
            </a:r>
            <a:r>
              <a:rPr lang="en-US" dirty="0" err="1"/>
              <a:t>P.Rajyashree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539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5B9FD-EA3E-190A-E21E-12951D6D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 Number of Restaurants per City</a:t>
            </a:r>
            <a:br>
              <a:rPr lang="en-IN" sz="3200" b="1" dirty="0"/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6C23E-1BF6-4AB2-C6CD-8FAE61564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Mumbai - Highest Density Hub</a:t>
            </a:r>
          </a:p>
          <a:p>
            <a:pPr marL="0" indent="0">
              <a:buNone/>
            </a:pPr>
            <a:r>
              <a:rPr lang="en-IN" sz="2400" dirty="0"/>
              <a:t>     Highly saturated and competitive market</a:t>
            </a:r>
          </a:p>
          <a:p>
            <a:r>
              <a:rPr lang="en-IN" sz="2400" dirty="0"/>
              <a:t>Bangalore - Mid‑High Density</a:t>
            </a:r>
          </a:p>
          <a:p>
            <a:pPr marL="0" indent="0">
              <a:buNone/>
            </a:pPr>
            <a:r>
              <a:rPr lang="en-IN" sz="2400" dirty="0"/>
              <a:t>     Diverse cuisine availability and steady competition</a:t>
            </a:r>
          </a:p>
          <a:p>
            <a:r>
              <a:rPr lang="en-IN" sz="2400" dirty="0"/>
              <a:t>Delhi - Dense but More Spread Out</a:t>
            </a:r>
          </a:p>
          <a:p>
            <a:pPr marL="0" indent="0">
              <a:buNone/>
            </a:pPr>
            <a:r>
              <a:rPr lang="en-IN" sz="2400" dirty="0"/>
              <a:t>     Moderate density with wide geographic spread</a:t>
            </a:r>
          </a:p>
          <a:p>
            <a:r>
              <a:rPr lang="en-IN" sz="2400" dirty="0"/>
              <a:t>Kolkata - Lowest </a:t>
            </a:r>
            <a:r>
              <a:rPr lang="en-IN" sz="2400"/>
              <a:t>Density 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Lower saturation, potentially higher growth opportunity</a:t>
            </a:r>
          </a:p>
        </p:txBody>
      </p:sp>
    </p:spTree>
    <p:extLst>
      <p:ext uri="{BB962C8B-B14F-4D97-AF65-F5344CB8AC3E}">
        <p14:creationId xmlns:p14="http://schemas.microsoft.com/office/powerpoint/2010/main" val="1552331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715E4-6313-57E5-4DD2-CF4DAC7C4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Percentage of Orders from Different Cities</a:t>
            </a:r>
            <a:br>
              <a:rPr lang="en-IN" sz="3200" b="1" dirty="0"/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AFF60-C316-C616-0F85-20D3DF5B7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000" dirty="0"/>
              <a:t>Delhi‑NCR 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/>
              <a:t>Mumbai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/>
              <a:t>Bengaluru</a:t>
            </a:r>
          </a:p>
          <a:p>
            <a:r>
              <a:rPr lang="en-IN" sz="2000" dirty="0"/>
              <a:t>Sheer population density in Delhi, late‑evening ordering habits, and strong digital adoption.</a:t>
            </a:r>
          </a:p>
          <a:p>
            <a:r>
              <a:rPr lang="en-IN" sz="2000" dirty="0"/>
              <a:t>Mumbai trails as a major metro with high food delivery adoption</a:t>
            </a:r>
          </a:p>
          <a:p>
            <a:r>
              <a:rPr lang="en-IN" sz="2000" dirty="0"/>
              <a:t>Bengaluru has strong tech‑driven ordering culture </a:t>
            </a:r>
          </a:p>
          <a:p>
            <a:r>
              <a:rPr lang="en-IN" sz="2000" dirty="0"/>
              <a:t>Railway stations and university campuses show emerging pockets of high‑frequency ordering</a:t>
            </a:r>
          </a:p>
          <a:p>
            <a:endParaRPr lang="en-IN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294959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A0DB4-8FC1-4133-0EF5-87886934F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Order Amount Trends Over Time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08FF0-1D55-874C-5E4A-D0243CABF1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sz="1600" b="1" dirty="0"/>
              <a:t>Hourly Trends (Within a Day)</a:t>
            </a:r>
          </a:p>
          <a:p>
            <a:pPr lvl="2"/>
            <a:r>
              <a:rPr lang="en-IN" sz="1200" dirty="0"/>
              <a:t>Morning spike (9–11 AM) </a:t>
            </a:r>
          </a:p>
          <a:p>
            <a:pPr lvl="2"/>
            <a:r>
              <a:rPr lang="en-IN" sz="1200" dirty="0"/>
              <a:t>Lunch-time bump (1–2 PM) </a:t>
            </a:r>
          </a:p>
          <a:p>
            <a:pPr lvl="2"/>
            <a:r>
              <a:rPr lang="en-IN" sz="1200" dirty="0"/>
              <a:t>Evening peak (7–10 PM) </a:t>
            </a:r>
          </a:p>
          <a:p>
            <a:pPr lvl="1"/>
            <a:r>
              <a:rPr lang="en-IN" sz="1200" dirty="0"/>
              <a:t>Lowest order volumes typically occur:</a:t>
            </a:r>
          </a:p>
          <a:p>
            <a:pPr lvl="2"/>
            <a:r>
              <a:rPr lang="en-IN" sz="1200" dirty="0"/>
              <a:t>Late night (1–5 AM) </a:t>
            </a:r>
          </a:p>
          <a:p>
            <a:pPr lvl="2"/>
            <a:r>
              <a:rPr lang="en-IN" sz="1200" dirty="0"/>
              <a:t>Early morning (5–7 AM)</a:t>
            </a:r>
          </a:p>
          <a:p>
            <a:pPr lvl="1"/>
            <a:endParaRPr lang="en-IN" sz="1200" b="1" dirty="0"/>
          </a:p>
          <a:p>
            <a:r>
              <a:rPr lang="en-IN" sz="1600" b="1" dirty="0"/>
              <a:t>Daily Trends (Within a Week)</a:t>
            </a:r>
          </a:p>
          <a:p>
            <a:endParaRPr lang="en-IN" sz="1600" b="1" dirty="0"/>
          </a:p>
          <a:p>
            <a:pPr lvl="1"/>
            <a:r>
              <a:rPr lang="en-IN" sz="1200" dirty="0"/>
              <a:t>Highest volume days:</a:t>
            </a:r>
          </a:p>
          <a:p>
            <a:pPr lvl="2"/>
            <a:r>
              <a:rPr lang="en-IN" sz="1200" dirty="0"/>
              <a:t>Friday–Sunday — weekend shopping </a:t>
            </a:r>
            <a:r>
              <a:rPr lang="en-IN" sz="1200" dirty="0" err="1"/>
              <a:t>behavior</a:t>
            </a:r>
            <a:endParaRPr lang="en-IN" sz="1200" dirty="0"/>
          </a:p>
          <a:p>
            <a:pPr lvl="2"/>
            <a:r>
              <a:rPr lang="en-IN" sz="1200" dirty="0"/>
              <a:t>Monday — catch-up purchases, bill payments, subscriptions</a:t>
            </a:r>
          </a:p>
          <a:p>
            <a:pPr lvl="1"/>
            <a:r>
              <a:rPr lang="en-IN" sz="1200" dirty="0"/>
              <a:t>Lowest volume days:</a:t>
            </a:r>
          </a:p>
          <a:p>
            <a:pPr lvl="2"/>
            <a:r>
              <a:rPr lang="en-IN" sz="1200" dirty="0"/>
              <a:t>Tuesday &amp; Wednesday — mid‑week slump</a:t>
            </a:r>
          </a:p>
          <a:p>
            <a:pPr lvl="2"/>
            <a:r>
              <a:rPr lang="en-IN" sz="1200" dirty="0"/>
              <a:t>Thursday — stable but not peak</a:t>
            </a:r>
          </a:p>
          <a:p>
            <a:pPr lvl="2"/>
            <a:endParaRPr lang="en-IN" sz="1200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0E9D1-0B68-E30F-FF67-95E80A5421C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sz="1600" b="1" dirty="0"/>
              <a:t>Monthly / Seasonal Trends</a:t>
            </a:r>
          </a:p>
          <a:p>
            <a:pPr lvl="1"/>
            <a:r>
              <a:rPr lang="en-IN" sz="1200" b="1" dirty="0"/>
              <a:t>High-volume periods:</a:t>
            </a:r>
            <a:endParaRPr lang="en-IN" sz="1200" dirty="0"/>
          </a:p>
          <a:p>
            <a:pPr lvl="2"/>
            <a:r>
              <a:rPr lang="en-IN" sz="1200" dirty="0"/>
              <a:t>Start of month (1st–5th) — salary credit → higher spending</a:t>
            </a:r>
          </a:p>
          <a:p>
            <a:pPr lvl="2"/>
            <a:r>
              <a:rPr lang="en-IN" sz="1200" dirty="0"/>
              <a:t>Festive seasons (varies by region)</a:t>
            </a:r>
          </a:p>
          <a:p>
            <a:pPr lvl="2"/>
            <a:r>
              <a:rPr lang="en-IN" sz="1200" dirty="0"/>
              <a:t>Quarter-end promotions</a:t>
            </a:r>
          </a:p>
          <a:p>
            <a:pPr lvl="1"/>
            <a:r>
              <a:rPr lang="en-IN" sz="1200" b="1" dirty="0"/>
              <a:t>Low-volume periods:</a:t>
            </a:r>
            <a:endParaRPr lang="en-IN" sz="1200" dirty="0"/>
          </a:p>
          <a:p>
            <a:pPr lvl="2"/>
            <a:r>
              <a:rPr lang="en-IN" sz="1200" dirty="0"/>
              <a:t>Mid-month (10th–20th) — spending stabilizes</a:t>
            </a:r>
          </a:p>
          <a:p>
            <a:pPr lvl="2"/>
            <a:r>
              <a:rPr lang="en-IN" sz="1200" dirty="0"/>
              <a:t>Post-festival cooldown</a:t>
            </a:r>
          </a:p>
          <a:p>
            <a:pPr lvl="2"/>
            <a:r>
              <a:rPr lang="en-IN" sz="1200" dirty="0"/>
              <a:t>Off-season months depending on industry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1915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0E93F-3277-4702-4DA9-BBA1B36B7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Correlation of Factors Affecting Average Rating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193F3-857E-9ED3-5AD0-DCEFD66F9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1400" dirty="0"/>
              <a:t>1. Total Ratings → Strong Positive Correlation with </a:t>
            </a:r>
            <a:r>
              <a:rPr lang="en-IN" sz="1400" dirty="0" err="1"/>
              <a:t>Avg</a:t>
            </a:r>
            <a:r>
              <a:rPr lang="en-IN" sz="1400" dirty="0"/>
              <a:t> Rating</a:t>
            </a:r>
          </a:p>
          <a:p>
            <a:r>
              <a:rPr lang="en-IN" sz="1400" dirty="0"/>
              <a:t>2. Price Range → Moderate Correlation</a:t>
            </a:r>
          </a:p>
          <a:p>
            <a:r>
              <a:rPr lang="en-IN" sz="1400" dirty="0"/>
              <a:t>3. Delivery Availability → Positive Impact</a:t>
            </a:r>
          </a:p>
          <a:p>
            <a:r>
              <a:rPr lang="en-IN" sz="1400" dirty="0"/>
              <a:t>4. Cuisine Type → Indirect Numerical Influence</a:t>
            </a:r>
          </a:p>
          <a:p>
            <a:r>
              <a:rPr lang="en-IN" sz="1400" dirty="0"/>
              <a:t>5. Order Count  → Strong Correlation</a:t>
            </a:r>
          </a:p>
          <a:p>
            <a:r>
              <a:rPr lang="en-IN" sz="1400" dirty="0"/>
              <a:t>6. Delivery Time → Negative Correlation</a:t>
            </a:r>
          </a:p>
          <a:p>
            <a:pPr marL="0" indent="0">
              <a:buNone/>
            </a:pPr>
            <a:r>
              <a:rPr lang="en-IN" sz="1400" b="1" dirty="0"/>
              <a:t>Actionable Insights</a:t>
            </a:r>
          </a:p>
          <a:p>
            <a:r>
              <a:rPr lang="en-IN" sz="1400" dirty="0"/>
              <a:t> Increasing order volume</a:t>
            </a:r>
          </a:p>
          <a:p>
            <a:r>
              <a:rPr lang="en-IN" sz="1400" dirty="0"/>
              <a:t> Improving delivery speed</a:t>
            </a:r>
          </a:p>
          <a:p>
            <a:r>
              <a:rPr lang="en-IN" sz="1400" dirty="0"/>
              <a:t> Maintaining mid‑to‑high price positioning</a:t>
            </a:r>
          </a:p>
          <a:p>
            <a:r>
              <a:rPr lang="en-IN" sz="1400" dirty="0"/>
              <a:t> Ensuring delivery availability</a:t>
            </a:r>
          </a:p>
          <a:p>
            <a:r>
              <a:rPr lang="en-IN" sz="1400" dirty="0"/>
              <a:t> Encouraging more customer reviews</a:t>
            </a:r>
          </a:p>
        </p:txBody>
      </p:sp>
    </p:spTree>
    <p:extLst>
      <p:ext uri="{BB962C8B-B14F-4D97-AF65-F5344CB8AC3E}">
        <p14:creationId xmlns:p14="http://schemas.microsoft.com/office/powerpoint/2010/main" val="572992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30D1D-AA2F-B069-A343-FC5038F0A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Summary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A2A7F-0807-13A2-9913-E315BE4C0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600" dirty="0"/>
              <a:t>Supply Side</a:t>
            </a:r>
          </a:p>
          <a:p>
            <a:pPr lvl="1"/>
            <a:r>
              <a:rPr lang="en-IN" sz="1600" dirty="0"/>
              <a:t>Mumbai is the largest restaurant hub.</a:t>
            </a:r>
          </a:p>
          <a:p>
            <a:pPr lvl="1"/>
            <a:r>
              <a:rPr lang="en-IN" sz="1600" dirty="0"/>
              <a:t>Italian, Thai, Mexican cuisines dominate ratings.</a:t>
            </a:r>
          </a:p>
          <a:p>
            <a:pPr lvl="1"/>
            <a:r>
              <a:rPr lang="en-IN" sz="1600" dirty="0"/>
              <a:t>Delivery availability strongly boosts ratings and demand.</a:t>
            </a:r>
          </a:p>
          <a:p>
            <a:r>
              <a:rPr lang="en-IN" sz="1600" dirty="0"/>
              <a:t>Demand Side</a:t>
            </a:r>
          </a:p>
          <a:p>
            <a:pPr lvl="1"/>
            <a:r>
              <a:rPr lang="en-IN" sz="1600" dirty="0"/>
              <a:t>Order density mirrors restaurant density.</a:t>
            </a:r>
          </a:p>
          <a:p>
            <a:pPr lvl="1"/>
            <a:r>
              <a:rPr lang="en-IN" sz="1600" dirty="0"/>
              <a:t>Peak demand occurs evenings and weekends.</a:t>
            </a:r>
          </a:p>
          <a:p>
            <a:pPr lvl="1"/>
            <a:r>
              <a:rPr lang="en-IN" sz="1600" dirty="0"/>
              <a:t>High‑price restaurants generate higher Average Order Value(AOV).</a:t>
            </a:r>
          </a:p>
          <a:p>
            <a:r>
              <a:rPr lang="en-IN" sz="1600" dirty="0"/>
              <a:t>Revenue</a:t>
            </a:r>
          </a:p>
          <a:p>
            <a:pPr lvl="1"/>
            <a:r>
              <a:rPr lang="en-IN" sz="1600" dirty="0"/>
              <a:t>Premium areas in Mumbai, Chennai, Bangalore, Delhi lead revenue.</a:t>
            </a:r>
          </a:p>
          <a:p>
            <a:pPr lvl="1"/>
            <a:r>
              <a:rPr lang="en-IN" sz="1600" dirty="0"/>
              <a:t>Low‑price, low‑rating restaurants drag down area performance.</a:t>
            </a:r>
          </a:p>
          <a:p>
            <a:r>
              <a:rPr lang="en-IN" sz="1600" dirty="0"/>
              <a:t>Sales</a:t>
            </a:r>
          </a:p>
          <a:p>
            <a:pPr lvl="1"/>
            <a:r>
              <a:rPr lang="en-IN" sz="1600" dirty="0"/>
              <a:t>Restaurants with high ratings + high review counts + delivery availability dominate sales.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685388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1B891-BC8F-8825-3295-5E50A75B6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endParaRPr lang="en-US" sz="3600" dirty="0"/>
          </a:p>
          <a:p>
            <a:pPr marL="0" indent="0" algn="r">
              <a:buNone/>
            </a:pPr>
            <a:endParaRPr lang="en-US" sz="3600" dirty="0"/>
          </a:p>
          <a:p>
            <a:pPr marL="0" indent="0" algn="r">
              <a:buNone/>
            </a:pPr>
            <a:endParaRPr lang="en-US" sz="3600" dirty="0"/>
          </a:p>
          <a:p>
            <a:pPr marL="0" indent="0" algn="r">
              <a:buNone/>
            </a:pPr>
            <a:endParaRPr lang="en-US" sz="3600" dirty="0"/>
          </a:p>
          <a:p>
            <a:pPr marL="0" indent="0" algn="r">
              <a:buNone/>
            </a:pPr>
            <a:endParaRPr lang="en-US" sz="3600" dirty="0"/>
          </a:p>
          <a:p>
            <a:pPr marL="0" indent="0" algn="r">
              <a:buNone/>
            </a:pPr>
            <a:endParaRPr lang="en-US" sz="3600" dirty="0"/>
          </a:p>
          <a:p>
            <a:pPr marL="0" indent="0" algn="r">
              <a:buNone/>
            </a:pPr>
            <a:r>
              <a:rPr lang="en-US" sz="3600" dirty="0"/>
              <a:t>Thank you 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835708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452</Words>
  <Application>Microsoft Office PowerPoint</Application>
  <PresentationFormat>Widescreen</PresentationFormat>
  <Paragraphs>79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Zomato Order &amp; Restaurant Analysis Using Power BI </vt:lpstr>
      <vt:lpstr> Number of Restaurants per City </vt:lpstr>
      <vt:lpstr>Percentage of Orders from Different Cities </vt:lpstr>
      <vt:lpstr>Order Amount Trends Over Time</vt:lpstr>
      <vt:lpstr>Correlation of Factors Affecting Average Rating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Rajyashree Pooranachandran</dc:creator>
  <cp:lastModifiedBy>Rajyashree Pooranachandran</cp:lastModifiedBy>
  <cp:revision>1</cp:revision>
  <dcterms:created xsi:type="dcterms:W3CDTF">2026-07-15T05:02:56Z</dcterms:created>
  <dcterms:modified xsi:type="dcterms:W3CDTF">2026-07-23T05:28:09Z</dcterms:modified>
</cp:coreProperties>
</file>